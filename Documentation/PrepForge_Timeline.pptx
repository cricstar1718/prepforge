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PrepForge — Development Timeline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6-Phase System Build  ·  14 Weeks  ·  From Auth to Adaptive Learning Loop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834640" y="1005840"/>
            <a:ext cx="8915400" cy="32918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" name="Text 3"/>
          <p:cNvSpPr/>
          <p:nvPr/>
        </p:nvSpPr>
        <p:spPr>
          <a:xfrm>
            <a:off x="2834640" y="1005840"/>
            <a:ext cx="6368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1454" y="1005840"/>
            <a:ext cx="6368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1454" y="1005840"/>
            <a:ext cx="0" cy="329184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08269" y="1005840"/>
            <a:ext cx="6368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08269" y="1005840"/>
            <a:ext cx="0" cy="329184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083" y="1005840"/>
            <a:ext cx="6368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45083" y="1005840"/>
            <a:ext cx="0" cy="329184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1897" y="1005840"/>
            <a:ext cx="6368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81897" y="1005840"/>
            <a:ext cx="0" cy="329184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18711" y="1005840"/>
            <a:ext cx="6368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18711" y="1005840"/>
            <a:ext cx="0" cy="329184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55526" y="1005840"/>
            <a:ext cx="6368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55526" y="1005840"/>
            <a:ext cx="0" cy="329184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2340" y="1005840"/>
            <a:ext cx="6368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92340" y="1005840"/>
            <a:ext cx="0" cy="329184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29154" y="1005840"/>
            <a:ext cx="6368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929154" y="1005840"/>
            <a:ext cx="0" cy="329184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65969" y="1005840"/>
            <a:ext cx="6368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565969" y="1005840"/>
            <a:ext cx="0" cy="329184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02783" y="1005840"/>
            <a:ext cx="6368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202783" y="1005840"/>
            <a:ext cx="0" cy="329184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39597" y="1005840"/>
            <a:ext cx="6368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839597" y="1005840"/>
            <a:ext cx="0" cy="329184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76411" y="1005840"/>
            <a:ext cx="6368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476411" y="1005840"/>
            <a:ext cx="0" cy="329184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13226" y="1005840"/>
            <a:ext cx="6368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1113226" y="1005840"/>
            <a:ext cx="0" cy="329184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1335024"/>
            <a:ext cx="11430000" cy="65836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" y="1426464"/>
            <a:ext cx="64008" cy="4754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" y="138074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01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" y="158191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" y="180136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852928" y="1408176"/>
            <a:ext cx="1237053" cy="310896"/>
          </a:xfrm>
          <a:prstGeom prst="rect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889504" y="1444752"/>
            <a:ext cx="1163901" cy="237744"/>
          </a:xfrm>
          <a:prstGeom prst="rect">
            <a:avLst/>
          </a:prstGeom>
          <a:solidFill>
            <a:srgbClr val="6366F1">
              <a:alpha val="55000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17520" y="1453896"/>
            <a:ext cx="219456" cy="21945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0" name="Text 38"/>
          <p:cNvSpPr/>
          <p:nvPr/>
        </p:nvSpPr>
        <p:spPr>
          <a:xfrm>
            <a:off x="3017520" y="145389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75888" y="1453896"/>
            <a:ext cx="219456" cy="21945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2" name="Text 40"/>
          <p:cNvSpPr/>
          <p:nvPr/>
        </p:nvSpPr>
        <p:spPr>
          <a:xfrm>
            <a:off x="3675888" y="145389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834640" y="1335024"/>
            <a:ext cx="0" cy="658368"/>
          </a:xfrm>
          <a:prstGeom prst="line">
            <a:avLst/>
          </a:prstGeom>
          <a:noFill/>
          <a:ln w="5080">
            <a:solidFill>
              <a:srgbClr val="1E2D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71454" y="1335024"/>
            <a:ext cx="0" cy="658368"/>
          </a:xfrm>
          <a:prstGeom prst="line">
            <a:avLst/>
          </a:prstGeom>
          <a:noFill/>
          <a:ln w="5080">
            <a:solidFill>
              <a:srgbClr val="1E2D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08269" y="1335024"/>
            <a:ext cx="0" cy="658368"/>
          </a:xfrm>
          <a:prstGeom prst="line">
            <a:avLst/>
          </a:prstGeom>
          <a:noFill/>
          <a:ln w="5080">
            <a:solidFill>
              <a:srgbClr val="1E2D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" y="2039112"/>
            <a:ext cx="11430000" cy="658368"/>
          </a:xfrm>
          <a:prstGeom prst="rect">
            <a:avLst/>
          </a:prstGeom>
          <a:solidFill>
            <a:srgbClr val="1A2235"/>
          </a:solidFill>
          <a:ln/>
        </p:spPr>
      </p:sp>
      <p:sp>
        <p:nvSpPr>
          <p:cNvPr id="47" name="Shape 45"/>
          <p:cNvSpPr/>
          <p:nvPr/>
        </p:nvSpPr>
        <p:spPr>
          <a:xfrm>
            <a:off x="320040" y="2130552"/>
            <a:ext cx="64008" cy="4754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8" name="Text 46"/>
          <p:cNvSpPr/>
          <p:nvPr/>
        </p:nvSpPr>
        <p:spPr>
          <a:xfrm>
            <a:off x="475488" y="208483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02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5488" y="22860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Planning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75488" y="2505456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26557" y="2112264"/>
            <a:ext cx="1237053" cy="310896"/>
          </a:xfrm>
          <a:prstGeom prst="rect">
            <a:avLst/>
          </a:prstGeom>
          <a:solidFill>
            <a:srgbClr val="0EA5E9">
              <a:alpha val="1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163133" y="2148840"/>
            <a:ext cx="1163901" cy="237744"/>
          </a:xfrm>
          <a:prstGeom prst="rect">
            <a:avLst/>
          </a:prstGeom>
          <a:solidFill>
            <a:srgbClr val="0EA5E9">
              <a:alpha val="55000"/>
            </a:srgbClr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91149" y="2157984"/>
            <a:ext cx="219456" cy="21945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4" name="Text 52"/>
          <p:cNvSpPr/>
          <p:nvPr/>
        </p:nvSpPr>
        <p:spPr>
          <a:xfrm>
            <a:off x="4291149" y="2157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949517" y="2157984"/>
            <a:ext cx="219456" cy="21945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6" name="Text 54"/>
          <p:cNvSpPr/>
          <p:nvPr/>
        </p:nvSpPr>
        <p:spPr>
          <a:xfrm>
            <a:off x="4949517" y="2157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108269" y="2039112"/>
            <a:ext cx="0" cy="658368"/>
          </a:xfrm>
          <a:prstGeom prst="line">
            <a:avLst/>
          </a:prstGeom>
          <a:noFill/>
          <a:ln w="5080">
            <a:solidFill>
              <a:srgbClr val="1E2D4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45083" y="2039112"/>
            <a:ext cx="0" cy="658368"/>
          </a:xfrm>
          <a:prstGeom prst="line">
            <a:avLst/>
          </a:prstGeom>
          <a:noFill/>
          <a:ln w="5080">
            <a:solidFill>
              <a:srgbClr val="1E2D4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81897" y="2039112"/>
            <a:ext cx="0" cy="658368"/>
          </a:xfrm>
          <a:prstGeom prst="line">
            <a:avLst/>
          </a:prstGeom>
          <a:noFill/>
          <a:ln w="5080">
            <a:solidFill>
              <a:srgbClr val="1E2D4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0040" y="2743200"/>
            <a:ext cx="11430000" cy="65836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61" name="Shape 59"/>
          <p:cNvSpPr/>
          <p:nvPr/>
        </p:nvSpPr>
        <p:spPr>
          <a:xfrm>
            <a:off x="320040" y="2834640"/>
            <a:ext cx="64008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2" name="Text 60"/>
          <p:cNvSpPr/>
          <p:nvPr/>
        </p:nvSpPr>
        <p:spPr>
          <a:xfrm>
            <a:off x="475488" y="278892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03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75488" y="299008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Execution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75488" y="320954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400185" y="2816352"/>
            <a:ext cx="1237053" cy="310896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36761" y="2852928"/>
            <a:ext cx="1163901" cy="237744"/>
          </a:xfrm>
          <a:prstGeom prst="rect">
            <a:avLst/>
          </a:prstGeom>
          <a:solidFill>
            <a:srgbClr val="10B981">
              <a:alpha val="55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564777" y="2862072"/>
            <a:ext cx="219456" cy="21945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8" name="Text 66"/>
          <p:cNvSpPr/>
          <p:nvPr/>
        </p:nvSpPr>
        <p:spPr>
          <a:xfrm>
            <a:off x="5564777" y="28620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223145" y="2862072"/>
            <a:ext cx="219456" cy="21945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0" name="Text 68"/>
          <p:cNvSpPr/>
          <p:nvPr/>
        </p:nvSpPr>
        <p:spPr>
          <a:xfrm>
            <a:off x="6223145" y="28620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381897" y="2743200"/>
            <a:ext cx="0" cy="658368"/>
          </a:xfrm>
          <a:prstGeom prst="line">
            <a:avLst/>
          </a:prstGeom>
          <a:noFill/>
          <a:ln w="5080">
            <a:solidFill>
              <a:srgbClr val="1E2D4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018711" y="2743200"/>
            <a:ext cx="0" cy="658368"/>
          </a:xfrm>
          <a:prstGeom prst="line">
            <a:avLst/>
          </a:prstGeom>
          <a:noFill/>
          <a:ln w="5080">
            <a:solidFill>
              <a:srgbClr val="1E2D4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655526" y="2743200"/>
            <a:ext cx="0" cy="658368"/>
          </a:xfrm>
          <a:prstGeom prst="line">
            <a:avLst/>
          </a:prstGeom>
          <a:noFill/>
          <a:ln w="5080">
            <a:solidFill>
              <a:srgbClr val="1E2D4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20040" y="3447288"/>
            <a:ext cx="11430000" cy="658368"/>
          </a:xfrm>
          <a:prstGeom prst="rect">
            <a:avLst/>
          </a:prstGeom>
          <a:solidFill>
            <a:srgbClr val="1A2235"/>
          </a:solidFill>
          <a:ln/>
        </p:spPr>
      </p:sp>
      <p:sp>
        <p:nvSpPr>
          <p:cNvPr id="75" name="Shape 73"/>
          <p:cNvSpPr/>
          <p:nvPr/>
        </p:nvSpPr>
        <p:spPr>
          <a:xfrm>
            <a:off x="320040" y="3538728"/>
            <a:ext cx="64008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6" name="Text 74"/>
          <p:cNvSpPr/>
          <p:nvPr/>
        </p:nvSpPr>
        <p:spPr>
          <a:xfrm>
            <a:off x="475488" y="349300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04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75488" y="3694176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Evaluation Engine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475488" y="391363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7–9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673814" y="3520440"/>
            <a:ext cx="1873867" cy="310896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6710390" y="3557016"/>
            <a:ext cx="1800715" cy="237744"/>
          </a:xfrm>
          <a:prstGeom prst="rect">
            <a:avLst/>
          </a:prstGeom>
          <a:solidFill>
            <a:srgbClr val="F59E0B">
              <a:alpha val="55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838406" y="3566160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2" name="Text 80"/>
          <p:cNvSpPr/>
          <p:nvPr/>
        </p:nvSpPr>
        <p:spPr>
          <a:xfrm>
            <a:off x="6838406" y="35661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7496774" y="3566160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4" name="Text 82"/>
          <p:cNvSpPr/>
          <p:nvPr/>
        </p:nvSpPr>
        <p:spPr>
          <a:xfrm>
            <a:off x="7496774" y="35661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8155142" y="3566160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6" name="Text 84"/>
          <p:cNvSpPr/>
          <p:nvPr/>
        </p:nvSpPr>
        <p:spPr>
          <a:xfrm>
            <a:off x="8155142" y="35661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655526" y="3447288"/>
            <a:ext cx="0" cy="658368"/>
          </a:xfrm>
          <a:prstGeom prst="line">
            <a:avLst/>
          </a:prstGeom>
          <a:noFill/>
          <a:ln w="5080">
            <a:solidFill>
              <a:srgbClr val="1E2D4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292340" y="3447288"/>
            <a:ext cx="0" cy="658368"/>
          </a:xfrm>
          <a:prstGeom prst="line">
            <a:avLst/>
          </a:prstGeom>
          <a:noFill/>
          <a:ln w="5080">
            <a:solidFill>
              <a:srgbClr val="1E2D4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929154" y="3447288"/>
            <a:ext cx="0" cy="658368"/>
          </a:xfrm>
          <a:prstGeom prst="line">
            <a:avLst/>
          </a:prstGeom>
          <a:noFill/>
          <a:ln w="5080">
            <a:solidFill>
              <a:srgbClr val="1E2D4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565969" y="3447288"/>
            <a:ext cx="0" cy="658368"/>
          </a:xfrm>
          <a:prstGeom prst="line">
            <a:avLst/>
          </a:prstGeom>
          <a:noFill/>
          <a:ln w="5080">
            <a:solidFill>
              <a:srgbClr val="1E2D4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20040" y="4151376"/>
            <a:ext cx="11430000" cy="65836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92" name="Shape 90"/>
          <p:cNvSpPr/>
          <p:nvPr/>
        </p:nvSpPr>
        <p:spPr>
          <a:xfrm>
            <a:off x="320040" y="4242816"/>
            <a:ext cx="64008" cy="47548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93" name="Text 91"/>
          <p:cNvSpPr/>
          <p:nvPr/>
        </p:nvSpPr>
        <p:spPr>
          <a:xfrm>
            <a:off x="475488" y="419709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05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75488" y="439826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Modules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475488" y="461772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10–11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8584257" y="4224528"/>
            <a:ext cx="1237053" cy="310896"/>
          </a:xfrm>
          <a:prstGeom prst="rect">
            <a:avLst/>
          </a:prstGeom>
          <a:solidFill>
            <a:srgbClr val="EC4899">
              <a:alpha val="12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8620833" y="4261104"/>
            <a:ext cx="1163901" cy="237744"/>
          </a:xfrm>
          <a:prstGeom prst="rect">
            <a:avLst/>
          </a:prstGeom>
          <a:solidFill>
            <a:srgbClr val="EC4899">
              <a:alpha val="55000"/>
            </a:srgbClr>
          </a:solidFill>
          <a:ln w="10160">
            <a:solidFill>
              <a:srgbClr val="EC489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748849" y="4270248"/>
            <a:ext cx="219456" cy="219456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99" name="Text 97"/>
          <p:cNvSpPr/>
          <p:nvPr/>
        </p:nvSpPr>
        <p:spPr>
          <a:xfrm>
            <a:off x="8748849" y="42702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11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9407217" y="4270248"/>
            <a:ext cx="219456" cy="219456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01" name="Text 99"/>
          <p:cNvSpPr/>
          <p:nvPr/>
        </p:nvSpPr>
        <p:spPr>
          <a:xfrm>
            <a:off x="9407217" y="42702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12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8565969" y="4151376"/>
            <a:ext cx="0" cy="658368"/>
          </a:xfrm>
          <a:prstGeom prst="line">
            <a:avLst/>
          </a:prstGeom>
          <a:noFill/>
          <a:ln w="5080">
            <a:solidFill>
              <a:srgbClr val="1E2D4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202783" y="4151376"/>
            <a:ext cx="0" cy="658368"/>
          </a:xfrm>
          <a:prstGeom prst="line">
            <a:avLst/>
          </a:prstGeom>
          <a:noFill/>
          <a:ln w="5080">
            <a:solidFill>
              <a:srgbClr val="1E2D4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839597" y="4151376"/>
            <a:ext cx="0" cy="658368"/>
          </a:xfrm>
          <a:prstGeom prst="line">
            <a:avLst/>
          </a:prstGeom>
          <a:noFill/>
          <a:ln w="5080">
            <a:solidFill>
              <a:srgbClr val="1E2D4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20040" y="4855464"/>
            <a:ext cx="11430000" cy="658368"/>
          </a:xfrm>
          <a:prstGeom prst="rect">
            <a:avLst/>
          </a:prstGeom>
          <a:solidFill>
            <a:srgbClr val="1A2235"/>
          </a:solidFill>
          <a:ln/>
        </p:spPr>
      </p:sp>
      <p:sp>
        <p:nvSpPr>
          <p:cNvPr id="106" name="Shape 104"/>
          <p:cNvSpPr/>
          <p:nvPr/>
        </p:nvSpPr>
        <p:spPr>
          <a:xfrm>
            <a:off x="320040" y="4946904"/>
            <a:ext cx="64008" cy="47548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07" name="Text 105"/>
          <p:cNvSpPr/>
          <p:nvPr/>
        </p:nvSpPr>
        <p:spPr>
          <a:xfrm>
            <a:off x="475488" y="490118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06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475488" y="510235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Loop &amp; Launch</a:t>
            </a:r>
            <a:endParaRPr lang="en-US" sz="1100" dirty="0"/>
          </a:p>
        </p:txBody>
      </p:sp>
      <p:sp>
        <p:nvSpPr>
          <p:cNvPr id="109" name="Text 107"/>
          <p:cNvSpPr/>
          <p:nvPr/>
        </p:nvSpPr>
        <p:spPr>
          <a:xfrm>
            <a:off x="475488" y="532180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12–14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9857885" y="4928616"/>
            <a:ext cx="1873867" cy="310896"/>
          </a:xfrm>
          <a:prstGeom prst="rect">
            <a:avLst/>
          </a:prstGeom>
          <a:solidFill>
            <a:srgbClr val="A855F7">
              <a:alpha val="12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9894461" y="4965192"/>
            <a:ext cx="1800715" cy="237744"/>
          </a:xfrm>
          <a:prstGeom prst="rect">
            <a:avLst/>
          </a:prstGeom>
          <a:solidFill>
            <a:srgbClr val="A855F7">
              <a:alpha val="55000"/>
            </a:srgbClr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0022477" y="4974336"/>
            <a:ext cx="219456" cy="21945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13" name="Text 111"/>
          <p:cNvSpPr/>
          <p:nvPr/>
        </p:nvSpPr>
        <p:spPr>
          <a:xfrm>
            <a:off x="10022477" y="49743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14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9839597" y="4855464"/>
            <a:ext cx="0" cy="658368"/>
          </a:xfrm>
          <a:prstGeom prst="line">
            <a:avLst/>
          </a:prstGeom>
          <a:noFill/>
          <a:ln w="5080">
            <a:solidFill>
              <a:srgbClr val="1E2D4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476411" y="4855464"/>
            <a:ext cx="0" cy="658368"/>
          </a:xfrm>
          <a:prstGeom prst="line">
            <a:avLst/>
          </a:prstGeom>
          <a:noFill/>
          <a:ln w="5080">
            <a:solidFill>
              <a:srgbClr val="1E2D4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1113226" y="4855464"/>
            <a:ext cx="0" cy="658368"/>
          </a:xfrm>
          <a:prstGeom prst="line">
            <a:avLst/>
          </a:prstGeom>
          <a:noFill/>
          <a:ln w="5080">
            <a:solidFill>
              <a:srgbClr val="1E2D4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47472" y="5669280"/>
            <a:ext cx="164592" cy="16459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8" name="Text 116"/>
          <p:cNvSpPr/>
          <p:nvPr/>
        </p:nvSpPr>
        <p:spPr>
          <a:xfrm>
            <a:off x="585216" y="566928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Foundation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2340864" y="5669280"/>
            <a:ext cx="164592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0" name="Text 118"/>
          <p:cNvSpPr/>
          <p:nvPr/>
        </p:nvSpPr>
        <p:spPr>
          <a:xfrm>
            <a:off x="2578608" y="566928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Assessment &amp; Planning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4334256" y="5669280"/>
            <a:ext cx="164592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2" name="Text 120"/>
          <p:cNvSpPr/>
          <p:nvPr/>
        </p:nvSpPr>
        <p:spPr>
          <a:xfrm>
            <a:off x="4572000" y="566928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Daily Execution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6327648" y="5669280"/>
            <a:ext cx="164592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4" name="Text 122"/>
          <p:cNvSpPr/>
          <p:nvPr/>
        </p:nvSpPr>
        <p:spPr>
          <a:xfrm>
            <a:off x="6565392" y="566928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AI Evaluation Engine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8321040" y="5669280"/>
            <a:ext cx="164592" cy="16459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26" name="Text 124"/>
          <p:cNvSpPr/>
          <p:nvPr/>
        </p:nvSpPr>
        <p:spPr>
          <a:xfrm>
            <a:off x="8558784" y="566928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Platform Modules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10314432" y="5669280"/>
            <a:ext cx="164592" cy="1645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28" name="Text 126"/>
          <p:cNvSpPr/>
          <p:nvPr/>
        </p:nvSpPr>
        <p:spPr>
          <a:xfrm>
            <a:off x="10552176" y="566928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Long-term Loop &amp; Launch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9144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Breakdown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58521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nodes, key tasks &amp; deliverable for each of the 6 phases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47472" y="969264"/>
            <a:ext cx="3657600" cy="2542032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69264"/>
            <a:ext cx="3657600" cy="640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512064" y="1115568"/>
            <a:ext cx="329184" cy="32918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" y="1115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50976" y="1106424"/>
            <a:ext cx="2907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50976" y="133502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12064" y="1627632"/>
            <a:ext cx="246888" cy="246888"/>
          </a:xfrm>
          <a:prstGeom prst="ellipse">
            <a:avLst/>
          </a:prstGeom>
          <a:solidFill>
            <a:srgbClr val="6366F1">
              <a:alpha val="70000"/>
            </a:srgbClr>
          </a:solidFill>
          <a:ln w="762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62763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58952" y="1751076"/>
            <a:ext cx="557784" cy="0"/>
          </a:xfrm>
          <a:prstGeom prst="line">
            <a:avLst/>
          </a:prstGeom>
          <a:noFill/>
          <a:ln w="6350">
            <a:solidFill>
              <a:srgbClr val="6366F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316736" y="1627632"/>
            <a:ext cx="246888" cy="246888"/>
          </a:xfrm>
          <a:prstGeom prst="ellipse">
            <a:avLst/>
          </a:prstGeom>
          <a:solidFill>
            <a:srgbClr val="6366F1">
              <a:alpha val="70000"/>
            </a:srgbClr>
          </a:solidFill>
          <a:ln w="762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16736" y="162763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12064" y="1993392"/>
            <a:ext cx="3328416" cy="0"/>
          </a:xfrm>
          <a:prstGeom prst="line">
            <a:avLst/>
          </a:prstGeom>
          <a:noFill/>
          <a:ln w="7620">
            <a:solidFill>
              <a:srgbClr val="1E2D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" y="2121408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2066544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Google Sign-Up + verification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12064" y="2368296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2313432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protected routes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12064" y="2615184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" y="2560320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form (target, study time, focus area)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12064" y="2862072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" y="2807208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scaffold + Tailwind CSS setup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12064" y="3108960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" y="3054096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connection &amp; user/plan schema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47472" y="3145536"/>
            <a:ext cx="3657600" cy="365760"/>
          </a:xfrm>
          <a:prstGeom prst="rect">
            <a:avLst/>
          </a:prstGeom>
          <a:solidFill>
            <a:srgbClr val="6366F1">
              <a:alpha val="2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314553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Auth flow + user profile stored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51960" y="969264"/>
            <a:ext cx="3657600" cy="2542032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51960" y="969264"/>
            <a:ext cx="36576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0" name="Shape 28"/>
          <p:cNvSpPr/>
          <p:nvPr/>
        </p:nvSpPr>
        <p:spPr>
          <a:xfrm>
            <a:off x="4416552" y="1115568"/>
            <a:ext cx="329184" cy="3291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4416552" y="1115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55464" y="1106424"/>
            <a:ext cx="2907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Planning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55464" y="133502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16552" y="1627632"/>
            <a:ext cx="246888" cy="246888"/>
          </a:xfrm>
          <a:prstGeom prst="ellipse">
            <a:avLst/>
          </a:prstGeom>
          <a:solidFill>
            <a:srgbClr val="0EA5E9">
              <a:alpha val="70000"/>
            </a:srgbClr>
          </a:solidFill>
          <a:ln w="762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16552" y="162763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63440" y="1751076"/>
            <a:ext cx="557784" cy="0"/>
          </a:xfrm>
          <a:prstGeom prst="line">
            <a:avLst/>
          </a:prstGeom>
          <a:noFill/>
          <a:ln w="6350">
            <a:solidFill>
              <a:srgbClr val="0EA5E9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5221224" y="1627632"/>
            <a:ext cx="246888" cy="246888"/>
          </a:xfrm>
          <a:prstGeom prst="ellipse">
            <a:avLst/>
          </a:prstGeom>
          <a:solidFill>
            <a:srgbClr val="0EA5E9">
              <a:alpha val="70000"/>
            </a:srgbClr>
          </a:solidFill>
          <a:ln w="7620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21224" y="162763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68112" y="1751076"/>
            <a:ext cx="557784" cy="0"/>
          </a:xfrm>
          <a:prstGeom prst="line">
            <a:avLst/>
          </a:prstGeom>
          <a:noFill/>
          <a:ln w="6350">
            <a:solidFill>
              <a:srgbClr val="0EA5E9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6025896" y="1627632"/>
            <a:ext cx="246888" cy="246888"/>
          </a:xfrm>
          <a:prstGeom prst="ellipse">
            <a:avLst/>
          </a:prstGeom>
          <a:solidFill>
            <a:srgbClr val="0EA5E9">
              <a:alpha val="70000"/>
            </a:srgbClr>
          </a:solidFill>
          <a:ln w="7620">
            <a:solidFill>
              <a:srgbClr val="0EA5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25896" y="162763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416552" y="1993392"/>
            <a:ext cx="3328416" cy="0"/>
          </a:xfrm>
          <a:prstGeom prst="line">
            <a:avLst/>
          </a:prstGeom>
          <a:noFill/>
          <a:ln w="7620">
            <a:solidFill>
              <a:srgbClr val="1E2D4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16552" y="2121408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4" name="Text 42"/>
          <p:cNvSpPr/>
          <p:nvPr/>
        </p:nvSpPr>
        <p:spPr>
          <a:xfrm>
            <a:off x="4581144" y="2066544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diagnostic problems per domain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416552" y="2368296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6" name="Text 44"/>
          <p:cNvSpPr/>
          <p:nvPr/>
        </p:nvSpPr>
        <p:spPr>
          <a:xfrm>
            <a:off x="4581144" y="2313432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rating &amp; weak/strong topic detection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416552" y="2615184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8" name="Text 46"/>
          <p:cNvSpPr/>
          <p:nvPr/>
        </p:nvSpPr>
        <p:spPr>
          <a:xfrm>
            <a:off x="4581144" y="2560320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plan generator — weekly roadmap + daily tasks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416552" y="2862072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0" name="Text 48"/>
          <p:cNvSpPr/>
          <p:nvPr/>
        </p:nvSpPr>
        <p:spPr>
          <a:xfrm>
            <a:off x="4581144" y="2807208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priority engine (weakness + time available)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416552" y="3108960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2" name="Text 50"/>
          <p:cNvSpPr/>
          <p:nvPr/>
        </p:nvSpPr>
        <p:spPr>
          <a:xfrm>
            <a:off x="4581144" y="3054096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stored as day-wise MongoDB documents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251960" y="3145536"/>
            <a:ext cx="3657600" cy="365760"/>
          </a:xfrm>
          <a:prstGeom prst="rect">
            <a:avLst/>
          </a:prstGeom>
          <a:solidFill>
            <a:srgbClr val="0EA5E9">
              <a:alpha val="22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4379976" y="314553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Personalised day-wise plan generated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156448" y="969264"/>
            <a:ext cx="3657600" cy="2542032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156448" y="969264"/>
            <a:ext cx="36576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7" name="Shape 55"/>
          <p:cNvSpPr/>
          <p:nvPr/>
        </p:nvSpPr>
        <p:spPr>
          <a:xfrm>
            <a:off x="8321040" y="1115568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8" name="Text 56"/>
          <p:cNvSpPr/>
          <p:nvPr/>
        </p:nvSpPr>
        <p:spPr>
          <a:xfrm>
            <a:off x="8321040" y="1115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759952" y="1106424"/>
            <a:ext cx="2907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Execution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759952" y="133502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321040" y="1627632"/>
            <a:ext cx="246888" cy="246888"/>
          </a:xfrm>
          <a:prstGeom prst="ellipse">
            <a:avLst/>
          </a:prstGeom>
          <a:solidFill>
            <a:srgbClr val="10B981">
              <a:alpha val="70000"/>
            </a:srgbClr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21040" y="162763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567928" y="1751076"/>
            <a:ext cx="557784" cy="0"/>
          </a:xfrm>
          <a:prstGeom prst="line">
            <a:avLst/>
          </a:prstGeom>
          <a:noFill/>
          <a:ln w="6350">
            <a:solidFill>
              <a:srgbClr val="10B981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9125712" y="1627632"/>
            <a:ext cx="246888" cy="246888"/>
          </a:xfrm>
          <a:prstGeom prst="ellipse">
            <a:avLst/>
          </a:prstGeom>
          <a:solidFill>
            <a:srgbClr val="10B981">
              <a:alpha val="70000"/>
            </a:srgbClr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125712" y="162763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321040" y="1993392"/>
            <a:ext cx="3328416" cy="0"/>
          </a:xfrm>
          <a:prstGeom prst="line">
            <a:avLst/>
          </a:prstGeom>
          <a:noFill/>
          <a:ln w="7620">
            <a:solidFill>
              <a:srgbClr val="1E2D4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321040" y="212140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8" name="Text 66"/>
          <p:cNvSpPr/>
          <p:nvPr/>
        </p:nvSpPr>
        <p:spPr>
          <a:xfrm>
            <a:off x="8485632" y="2066544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on LeetCode / Codeforces / CodeChef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8321040" y="236829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0" name="Text 68"/>
          <p:cNvSpPr/>
          <p:nvPr/>
        </p:nvSpPr>
        <p:spPr>
          <a:xfrm>
            <a:off x="8485632" y="2313432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task checklist with completion tracking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8321040" y="261518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2" name="Text 70"/>
          <p:cNvSpPr/>
          <p:nvPr/>
        </p:nvSpPr>
        <p:spPr>
          <a:xfrm>
            <a:off x="8485632" y="2560320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Submit: problem link, code paste, time taken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8321040" y="286207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4" name="Text 72"/>
          <p:cNvSpPr/>
          <p:nvPr/>
        </p:nvSpPr>
        <p:spPr>
          <a:xfrm>
            <a:off x="8485632" y="2807208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type logging (Independent / Hint / Viewed)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321040" y="310896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6" name="Text 74"/>
          <p:cNvSpPr/>
          <p:nvPr/>
        </p:nvSpPr>
        <p:spPr>
          <a:xfrm>
            <a:off x="8485632" y="3054096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auto-save + one submission per day rule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8156448" y="3145536"/>
            <a:ext cx="3657600" cy="365760"/>
          </a:xfrm>
          <a:prstGeom prst="rect">
            <a:avLst/>
          </a:prstGeom>
          <a:solidFill>
            <a:srgbClr val="10B981">
              <a:alpha val="22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8284464" y="314553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Daily log submission pipeline live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347472" y="3730752"/>
            <a:ext cx="3657600" cy="2542032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347472" y="3730752"/>
            <a:ext cx="36576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1" name="Shape 79"/>
          <p:cNvSpPr/>
          <p:nvPr/>
        </p:nvSpPr>
        <p:spPr>
          <a:xfrm>
            <a:off x="512064" y="3877056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2" name="Text 80"/>
          <p:cNvSpPr/>
          <p:nvPr/>
        </p:nvSpPr>
        <p:spPr>
          <a:xfrm>
            <a:off x="512064" y="38770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950976" y="3867912"/>
            <a:ext cx="2907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Evaluation Engine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950976" y="4096512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7–9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512064" y="4389120"/>
            <a:ext cx="246888" cy="246888"/>
          </a:xfrm>
          <a:prstGeom prst="ellipse">
            <a:avLst/>
          </a:prstGeom>
          <a:solidFill>
            <a:srgbClr val="F59E0B">
              <a:alpha val="70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12064" y="438912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758952" y="4512564"/>
            <a:ext cx="557784" cy="0"/>
          </a:xfrm>
          <a:prstGeom prst="line">
            <a:avLst/>
          </a:prstGeom>
          <a:noFill/>
          <a:ln w="6350">
            <a:solidFill>
              <a:srgbClr val="F59E0B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1316736" y="4389120"/>
            <a:ext cx="246888" cy="246888"/>
          </a:xfrm>
          <a:prstGeom prst="ellipse">
            <a:avLst/>
          </a:prstGeom>
          <a:solidFill>
            <a:srgbClr val="F59E0B">
              <a:alpha val="70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316736" y="438912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1563624" y="4512564"/>
            <a:ext cx="557784" cy="0"/>
          </a:xfrm>
          <a:prstGeom prst="line">
            <a:avLst/>
          </a:prstGeom>
          <a:noFill/>
          <a:ln w="6350">
            <a:solidFill>
              <a:srgbClr val="F59E0B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2121408" y="4389120"/>
            <a:ext cx="246888" cy="246888"/>
          </a:xfrm>
          <a:prstGeom prst="ellipse">
            <a:avLst/>
          </a:prstGeom>
          <a:solidFill>
            <a:srgbClr val="F59E0B">
              <a:alpha val="70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121408" y="438912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512064" y="4754880"/>
            <a:ext cx="3328416" cy="0"/>
          </a:xfrm>
          <a:prstGeom prst="line">
            <a:avLst/>
          </a:prstGeom>
          <a:noFill/>
          <a:ln w="7620">
            <a:solidFill>
              <a:srgbClr val="1E2D4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12064" y="488289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5" name="Text 93"/>
          <p:cNvSpPr/>
          <p:nvPr/>
        </p:nvSpPr>
        <p:spPr>
          <a:xfrm>
            <a:off x="676656" y="4828032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interrogation: approach, complexity, edge cases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512064" y="512978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7" name="Text 95"/>
          <p:cNvSpPr/>
          <p:nvPr/>
        </p:nvSpPr>
        <p:spPr>
          <a:xfrm>
            <a:off x="676656" y="5074920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Cross-verification: code vs explanation mismatch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512064" y="537667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9" name="Text 97"/>
          <p:cNvSpPr/>
          <p:nvPr/>
        </p:nvSpPr>
        <p:spPr>
          <a:xfrm>
            <a:off x="676656" y="5321808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4-dim scoring: Understanding 40%, Clarity 20%, Efficiency 20%, Quality 20%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512064" y="562356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1" name="Text 99"/>
          <p:cNvSpPr/>
          <p:nvPr/>
        </p:nvSpPr>
        <p:spPr>
          <a:xfrm>
            <a:off x="676656" y="5568696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/ Not Cleared + reattempt loop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512064" y="587044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3" name="Text 101"/>
          <p:cNvSpPr/>
          <p:nvPr/>
        </p:nvSpPr>
        <p:spPr>
          <a:xfrm>
            <a:off x="676656" y="5815584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feedback, strengths, mistakes &amp; ideal approach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347472" y="5907024"/>
            <a:ext cx="3657600" cy="365760"/>
          </a:xfrm>
          <a:prstGeom prst="rect">
            <a:avLst/>
          </a:prstGeom>
          <a:solidFill>
            <a:srgbClr val="F59E0B">
              <a:alpha val="22000"/>
            </a:srgbClr>
          </a:solidFill>
          <a:ln/>
        </p:spPr>
      </p:sp>
      <p:sp>
        <p:nvSpPr>
          <p:cNvPr id="105" name="Text 103"/>
          <p:cNvSpPr/>
          <p:nvPr/>
        </p:nvSpPr>
        <p:spPr>
          <a:xfrm>
            <a:off x="475488" y="590702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evaluate-score-feedback loop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4251960" y="3730752"/>
            <a:ext cx="3657600" cy="2542032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4251960" y="3730752"/>
            <a:ext cx="3657600" cy="6400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08" name="Shape 106"/>
          <p:cNvSpPr/>
          <p:nvPr/>
        </p:nvSpPr>
        <p:spPr>
          <a:xfrm>
            <a:off x="4416552" y="3877056"/>
            <a:ext cx="329184" cy="32918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09" name="Text 107"/>
          <p:cNvSpPr/>
          <p:nvPr/>
        </p:nvSpPr>
        <p:spPr>
          <a:xfrm>
            <a:off x="4416552" y="38770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110" name="Text 108"/>
          <p:cNvSpPr/>
          <p:nvPr/>
        </p:nvSpPr>
        <p:spPr>
          <a:xfrm>
            <a:off x="4855464" y="3867912"/>
            <a:ext cx="2907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Modules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4855464" y="4096512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10–11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4416552" y="4389120"/>
            <a:ext cx="246888" cy="246888"/>
          </a:xfrm>
          <a:prstGeom prst="ellipse">
            <a:avLst/>
          </a:prstGeom>
          <a:solidFill>
            <a:srgbClr val="EC4899">
              <a:alpha val="70000"/>
            </a:srgbClr>
          </a:solidFill>
          <a:ln w="7620">
            <a:solidFill>
              <a:srgbClr val="EC4899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416552" y="438912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11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4663440" y="4512564"/>
            <a:ext cx="557784" cy="0"/>
          </a:xfrm>
          <a:prstGeom prst="line">
            <a:avLst/>
          </a:prstGeom>
          <a:noFill/>
          <a:ln w="6350">
            <a:solidFill>
              <a:srgbClr val="EC4899"/>
            </a:solidFill>
            <a:prstDash val="dash"/>
          </a:ln>
        </p:spPr>
      </p:sp>
      <p:sp>
        <p:nvSpPr>
          <p:cNvPr id="115" name="Shape 113"/>
          <p:cNvSpPr/>
          <p:nvPr/>
        </p:nvSpPr>
        <p:spPr>
          <a:xfrm>
            <a:off x="5221224" y="4389120"/>
            <a:ext cx="246888" cy="246888"/>
          </a:xfrm>
          <a:prstGeom prst="ellipse">
            <a:avLst/>
          </a:prstGeom>
          <a:solidFill>
            <a:srgbClr val="EC4899">
              <a:alpha val="70000"/>
            </a:srgbClr>
          </a:solidFill>
          <a:ln w="7620">
            <a:solidFill>
              <a:srgbClr val="EC489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221224" y="438912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12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5468112" y="4512564"/>
            <a:ext cx="557784" cy="0"/>
          </a:xfrm>
          <a:prstGeom prst="line">
            <a:avLst/>
          </a:prstGeom>
          <a:noFill/>
          <a:ln w="6350">
            <a:solidFill>
              <a:srgbClr val="EC4899"/>
            </a:solidFill>
            <a:prstDash val="dash"/>
          </a:ln>
        </p:spPr>
      </p:sp>
      <p:sp>
        <p:nvSpPr>
          <p:cNvPr id="118" name="Shape 116"/>
          <p:cNvSpPr/>
          <p:nvPr/>
        </p:nvSpPr>
        <p:spPr>
          <a:xfrm>
            <a:off x="6025896" y="4389120"/>
            <a:ext cx="246888" cy="246888"/>
          </a:xfrm>
          <a:prstGeom prst="ellipse">
            <a:avLst/>
          </a:prstGeom>
          <a:solidFill>
            <a:srgbClr val="EC4899">
              <a:alpha val="70000"/>
            </a:srgbClr>
          </a:solidFill>
          <a:ln w="7620">
            <a:solidFill>
              <a:srgbClr val="EC4899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025896" y="438912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13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4416552" y="4754880"/>
            <a:ext cx="3328416" cy="0"/>
          </a:xfrm>
          <a:prstGeom prst="line">
            <a:avLst/>
          </a:prstGeom>
          <a:noFill/>
          <a:ln w="7620">
            <a:solidFill>
              <a:srgbClr val="1E2D4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416552" y="4882896"/>
            <a:ext cx="91440" cy="914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22" name="Text 120"/>
          <p:cNvSpPr/>
          <p:nvPr/>
        </p:nvSpPr>
        <p:spPr>
          <a:xfrm>
            <a:off x="4581144" y="4828032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dashboard: rating, streak, weak topics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4416552" y="5129784"/>
            <a:ext cx="91440" cy="914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24" name="Text 122"/>
          <p:cNvSpPr/>
          <p:nvPr/>
        </p:nvSpPr>
        <p:spPr>
          <a:xfrm>
            <a:off x="4581144" y="5074920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 adaptation engine (re-weight weak topics)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4416552" y="5376672"/>
            <a:ext cx="91440" cy="914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26" name="Text 124"/>
          <p:cNvSpPr/>
          <p:nvPr/>
        </p:nvSpPr>
        <p:spPr>
          <a:xfrm>
            <a:off x="4581144" y="5321808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Mentor rooms: Planner, DSA, FSD, Evaluator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4416552" y="5623560"/>
            <a:ext cx="91440" cy="914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28" name="Text 126"/>
          <p:cNvSpPr/>
          <p:nvPr/>
        </p:nvSpPr>
        <p:spPr>
          <a:xfrm>
            <a:off x="4581144" y="5568696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analytics: heatmap, accuracy &amp; rating trend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4416552" y="5870448"/>
            <a:ext cx="91440" cy="914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0" name="Text 128"/>
          <p:cNvSpPr/>
          <p:nvPr/>
        </p:nvSpPr>
        <p:spPr>
          <a:xfrm>
            <a:off x="4581144" y="5815584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hub: DSA sheets, mock tests, topic practice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4251960" y="5907024"/>
            <a:ext cx="3657600" cy="365760"/>
          </a:xfrm>
          <a:prstGeom prst="rect">
            <a:avLst/>
          </a:prstGeom>
          <a:solidFill>
            <a:srgbClr val="EC4899">
              <a:alpha val="22000"/>
            </a:srgbClr>
          </a:solidFill>
          <a:ln/>
        </p:spPr>
      </p:sp>
      <p:sp>
        <p:nvSpPr>
          <p:cNvPr id="132" name="Text 130"/>
          <p:cNvSpPr/>
          <p:nvPr/>
        </p:nvSpPr>
        <p:spPr>
          <a:xfrm>
            <a:off x="4379976" y="590702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+ AI mentor + analytics live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8156448" y="3730752"/>
            <a:ext cx="3657600" cy="2542032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4" name="Shape 132"/>
          <p:cNvSpPr/>
          <p:nvPr/>
        </p:nvSpPr>
        <p:spPr>
          <a:xfrm>
            <a:off x="8156448" y="3730752"/>
            <a:ext cx="3657600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35" name="Shape 133"/>
          <p:cNvSpPr/>
          <p:nvPr/>
        </p:nvSpPr>
        <p:spPr>
          <a:xfrm>
            <a:off x="8321040" y="3877056"/>
            <a:ext cx="329184" cy="32918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36" name="Text 134"/>
          <p:cNvSpPr/>
          <p:nvPr/>
        </p:nvSpPr>
        <p:spPr>
          <a:xfrm>
            <a:off x="8321040" y="38770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137" name="Text 135"/>
          <p:cNvSpPr/>
          <p:nvPr/>
        </p:nvSpPr>
        <p:spPr>
          <a:xfrm>
            <a:off x="8759952" y="3867912"/>
            <a:ext cx="2907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Loop &amp; Launch</a:t>
            </a:r>
            <a:endParaRPr lang="en-US" sz="1200" dirty="0"/>
          </a:p>
        </p:txBody>
      </p:sp>
      <p:sp>
        <p:nvSpPr>
          <p:cNvPr id="138" name="Text 136"/>
          <p:cNvSpPr/>
          <p:nvPr/>
        </p:nvSpPr>
        <p:spPr>
          <a:xfrm>
            <a:off x="8759952" y="4096512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12–14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8321040" y="4389120"/>
            <a:ext cx="246888" cy="246888"/>
          </a:xfrm>
          <a:prstGeom prst="ellipse">
            <a:avLst/>
          </a:prstGeom>
          <a:solidFill>
            <a:srgbClr val="A855F7">
              <a:alpha val="70000"/>
            </a:srgbClr>
          </a:solidFill>
          <a:ln w="7620">
            <a:solidFill>
              <a:srgbClr val="A855F7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321040" y="438912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14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8321040" y="4754880"/>
            <a:ext cx="3328416" cy="0"/>
          </a:xfrm>
          <a:prstGeom prst="line">
            <a:avLst/>
          </a:prstGeom>
          <a:noFill/>
          <a:ln w="7620">
            <a:solidFill>
              <a:srgbClr val="1E2D4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321040" y="4882896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43" name="Text 141"/>
          <p:cNvSpPr/>
          <p:nvPr/>
        </p:nvSpPr>
        <p:spPr>
          <a:xfrm>
            <a:off x="8485632" y="4828032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check: mock test + performance summary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8321040" y="5129784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45" name="Text 143"/>
          <p:cNvSpPr/>
          <p:nvPr/>
        </p:nvSpPr>
        <p:spPr>
          <a:xfrm>
            <a:off x="8485632" y="5074920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repetition + revision for weak topics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8321040" y="5376672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47" name="Text 145"/>
          <p:cNvSpPr/>
          <p:nvPr/>
        </p:nvSpPr>
        <p:spPr>
          <a:xfrm>
            <a:off x="8485632" y="5321808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loop: Execute → Evaluate → Improve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8321040" y="5623560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49" name="Text 147"/>
          <p:cNvSpPr/>
          <p:nvPr/>
        </p:nvSpPr>
        <p:spPr>
          <a:xfrm>
            <a:off x="8485632" y="5568696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system, consistency scoring &amp; gamification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8321040" y="5870448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51" name="Text 149"/>
          <p:cNvSpPr/>
          <p:nvPr/>
        </p:nvSpPr>
        <p:spPr>
          <a:xfrm>
            <a:off x="8485632" y="5815584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QA, performance tuning &amp; public launch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8156448" y="5907024"/>
            <a:ext cx="3657600" cy="365760"/>
          </a:xfrm>
          <a:prstGeom prst="rect">
            <a:avLst/>
          </a:prstGeom>
          <a:solidFill>
            <a:srgbClr val="A855F7">
              <a:alpha val="22000"/>
            </a:srgbClr>
          </a:solidFill>
          <a:ln/>
        </p:spPr>
      </p:sp>
      <p:sp>
        <p:nvSpPr>
          <p:cNvPr id="153" name="Text 151"/>
          <p:cNvSpPr/>
          <p:nvPr/>
        </p:nvSpPr>
        <p:spPr>
          <a:xfrm>
            <a:off x="8284464" y="590702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adaptive loop shipped &amp; launched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PrepForge Timeline</dc:title>
  <dc:subject>PptxGenJS Presentation</dc:subject>
  <dc:creator>PptxGenJS</dc:creator>
  <cp:lastModifiedBy>PptxGenJS</cp:lastModifiedBy>
  <cp:revision>1</cp:revision>
  <dcterms:created xsi:type="dcterms:W3CDTF">2026-04-24T03:14:39Z</dcterms:created>
  <dcterms:modified xsi:type="dcterms:W3CDTF">2026-04-24T03:14:40Z</dcterms:modified>
</cp:coreProperties>
</file>